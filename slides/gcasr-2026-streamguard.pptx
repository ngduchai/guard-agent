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212" r:id="rId1"/>
  </p:sldMasterIdLst>
  <p:handoutMasterIdLst>
    <p:handoutMasterId r:id="rId4"/>
  </p:handoutMasterIdLst>
  <p:sldIdLst>
    <p:sldId id="256" r:id="rId2"/>
    <p:sldId id="257" r:id="rId3"/>
  </p:sldIdLst>
  <p:sldSz cx="32918400" cy="21945600"/>
  <p:notesSz cx="7010400" cy="9271000"/>
  <p:embeddedFontLst>
    <p:embeddedFont>
      <p:font typeface="Quattrocento" panose="02020502030000000404" pitchFamily="18" charset="0"/>
      <p:regular r:id="rId5"/>
      <p:bold r:id="rId6"/>
    </p:embeddedFont>
    <p:embeddedFont>
      <p:font typeface="Quattrocento Sans" panose="020B05020500000200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en-US"/>
    </a:defPPr>
    <a:lvl1pPr marL="0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1pPr>
    <a:lvl2pPr marL="134140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2pPr>
    <a:lvl3pPr marL="2682818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3pPr>
    <a:lvl4pPr marL="4024227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4pPr>
    <a:lvl5pPr marL="5365640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5pPr>
    <a:lvl6pPr marL="670704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6pPr>
    <a:lvl7pPr marL="8048460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7pPr>
    <a:lvl8pPr marL="938986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8pPr>
    <a:lvl9pPr marL="10731279" algn="l" defTabSz="2682818" rtl="0" eaLnBrk="1" latinLnBrk="0" hangingPunct="1">
      <a:defRPr sz="52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Delre" initials="JD" lastIdx="0" clrIdx="0">
    <p:extLst>
      <p:ext uri="{19B8F6BF-5375-455C-9EA6-DF929625EA0E}">
        <p15:presenceInfo xmlns:p15="http://schemas.microsoft.com/office/powerpoint/2012/main" userId="Justin Del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5D6"/>
    <a:srgbClr val="A0219F"/>
    <a:srgbClr val="AC4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9875" autoAdjust="0"/>
    <p:restoredTop sz="94710" autoAdjust="0"/>
  </p:normalViewPr>
  <p:slideViewPr>
    <p:cSldViewPr>
      <p:cViewPr>
        <p:scale>
          <a:sx n="39" d="100"/>
          <a:sy n="39" d="100"/>
        </p:scale>
        <p:origin x="1896" y="144"/>
      </p:cViewPr>
      <p:guideLst>
        <p:guide orient="horz" pos="6912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tags" Target="tags/tag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/Users/ndhai/Library/Containers/com.microsoft.Excel/Data/Library/Application%20Support/Microsoft/Book1%20(version%201).xlsb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Sheet6!$B$33</c:f>
              <c:strCache>
                <c:ptCount val="1"/>
                <c:pt idx="0">
                  <c:v>Failure Frequency (per day)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Sheet6!$A$34:$A$43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numCache>
            </c:numRef>
          </c:xVal>
          <c:yVal>
            <c:numRef>
              <c:f>Sheet6!$B$34:$B$43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2E-7E43-90F1-B0E37FCFB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4239984"/>
        <c:axId val="864241696"/>
      </c:scatterChart>
      <c:scatterChart>
        <c:scatterStyle val="lineMarker"/>
        <c:varyColors val="0"/>
        <c:ser>
          <c:idx val="1"/>
          <c:order val="1"/>
          <c:tx>
            <c:strRef>
              <c:f>Sheet6!$C$33</c:f>
              <c:strCache>
                <c:ptCount val="1"/>
                <c:pt idx="0">
                  <c:v>Runtime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Sheet6!$A$34:$A$43</c:f>
              <c:numCache>
                <c:formatCode>General</c:formatCod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numCache>
            </c:numRef>
          </c:xVal>
          <c:yVal>
            <c:numRef>
              <c:f>Sheet6!$C$34:$C$43</c:f>
              <c:numCache>
                <c:formatCode>General</c:formatCode>
                <c:ptCount val="10"/>
                <c:pt idx="0">
                  <c:v>0.85909999999999997</c:v>
                </c:pt>
                <c:pt idx="1">
                  <c:v>1.5972999999999999</c:v>
                </c:pt>
                <c:pt idx="2">
                  <c:v>3.181</c:v>
                </c:pt>
                <c:pt idx="3">
                  <c:v>6.6997999999999998</c:v>
                </c:pt>
                <c:pt idx="4">
                  <c:v>14.741</c:v>
                </c:pt>
                <c:pt idx="5">
                  <c:v>33.536000000000001</c:v>
                </c:pt>
                <c:pt idx="6">
                  <c:v>78.260000000000005</c:v>
                </c:pt>
                <c:pt idx="7">
                  <c:v>186.25</c:v>
                </c:pt>
                <c:pt idx="8">
                  <c:v>450.12</c:v>
                </c:pt>
                <c:pt idx="9">
                  <c:v>1101.3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72E-7E43-90F1-B0E37FCFB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39349072"/>
        <c:axId val="1739346480"/>
      </c:scatterChart>
      <c:valAx>
        <c:axId val="864239984"/>
        <c:scaling>
          <c:orientation val="minMax"/>
          <c:max val="20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#</a:t>
                </a:r>
                <a:r>
                  <a:rPr lang="en-US" baseline="0" dirty="0"/>
                  <a:t> </a:t>
                </a:r>
                <a:r>
                  <a:rPr lang="en-US" dirty="0"/>
                  <a:t>Processing Tasks</a:t>
                </a:r>
              </a:p>
            </c:rich>
          </c:tx>
          <c:layout>
            <c:manualLayout>
              <c:xMode val="edge"/>
              <c:yMode val="edge"/>
              <c:x val="0.2768879550861818"/>
              <c:y val="0.850722281053888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41696"/>
        <c:crosses val="autoZero"/>
        <c:crossBetween val="midCat"/>
      </c:valAx>
      <c:valAx>
        <c:axId val="864241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Failure per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239984"/>
        <c:crosses val="autoZero"/>
        <c:crossBetween val="midCat"/>
      </c:valAx>
      <c:valAx>
        <c:axId val="173934648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Runtime (days)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349072"/>
        <c:crosses val="max"/>
        <c:crossBetween val="midCat"/>
      </c:valAx>
      <c:valAx>
        <c:axId val="17393490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393464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302F586B-0015-43FB-918D-31E1A09780E3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5F29C2D4-4424-41A2-A90C-29D31B733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8311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0484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91"/>
            <a:ext cx="27980642" cy="4358640"/>
          </a:xfrm>
        </p:spPr>
        <p:txBody>
          <a:bodyPr anchor="t"/>
          <a:lstStyle>
            <a:defPPr>
              <a:defRPr kern="1200"/>
            </a:defPPr>
            <a:lvl1pPr algn="l">
              <a:defRPr sz="11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3"/>
            <a:ext cx="27980642" cy="480059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5467">
                <a:solidFill>
                  <a:schemeClr val="tx1">
                    <a:tint val="75000"/>
                  </a:schemeClr>
                </a:solidFill>
              </a:defRPr>
            </a:lvl1pPr>
            <a:lvl2pPr marL="1252507" indent="0">
              <a:buNone/>
              <a:defRPr sz="4934">
                <a:solidFill>
                  <a:schemeClr val="tx1">
                    <a:tint val="75000"/>
                  </a:schemeClr>
                </a:solidFill>
              </a:defRPr>
            </a:lvl2pPr>
            <a:lvl3pPr marL="2505015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3pPr>
            <a:lvl4pPr marL="3757522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4pPr>
            <a:lvl5pPr marL="5010030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5pPr>
            <a:lvl6pPr marL="6262537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6pPr>
            <a:lvl7pPr marL="7515047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7pPr>
            <a:lvl8pPr marL="8767554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8pPr>
            <a:lvl9pPr marL="10020062" indent="0">
              <a:buNone/>
              <a:defRPr sz="3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6223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98132" y="16388080"/>
            <a:ext cx="70831708" cy="46344842"/>
          </a:xfrm>
        </p:spPr>
        <p:txBody>
          <a:bodyPr/>
          <a:lstStyle>
            <a:defPPr>
              <a:defRPr kern="1200"/>
            </a:defPPr>
            <a:lvl1pPr>
              <a:defRPr sz="7667"/>
            </a:lvl1pPr>
            <a:lvl2pPr>
              <a:defRPr sz="6600"/>
            </a:lvl2pPr>
            <a:lvl3pPr>
              <a:defRPr sz="5467"/>
            </a:lvl3pPr>
            <a:lvl4pPr>
              <a:defRPr sz="4934"/>
            </a:lvl4pPr>
            <a:lvl5pPr>
              <a:defRPr sz="4934"/>
            </a:lvl5pPr>
            <a:lvl6pPr>
              <a:defRPr sz="4934"/>
            </a:lvl6pPr>
            <a:lvl7pPr>
              <a:defRPr sz="4934"/>
            </a:lvl7pPr>
            <a:lvl8pPr>
              <a:defRPr sz="4934"/>
            </a:lvl8pPr>
            <a:lvl9pPr>
              <a:defRPr sz="49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78485" y="16388080"/>
            <a:ext cx="70831708" cy="46344842"/>
          </a:xfrm>
        </p:spPr>
        <p:txBody>
          <a:bodyPr/>
          <a:lstStyle>
            <a:defPPr>
              <a:defRPr kern="1200"/>
            </a:defPPr>
            <a:lvl1pPr>
              <a:defRPr sz="7667"/>
            </a:lvl1pPr>
            <a:lvl2pPr>
              <a:defRPr sz="6600"/>
            </a:lvl2pPr>
            <a:lvl3pPr>
              <a:defRPr sz="5467"/>
            </a:lvl3pPr>
            <a:lvl4pPr>
              <a:defRPr sz="4934"/>
            </a:lvl4pPr>
            <a:lvl5pPr>
              <a:defRPr sz="4934"/>
            </a:lvl5pPr>
            <a:lvl6pPr>
              <a:defRPr sz="4934"/>
            </a:lvl6pPr>
            <a:lvl7pPr>
              <a:defRPr sz="4934"/>
            </a:lvl7pPr>
            <a:lvl8pPr>
              <a:defRPr sz="4934"/>
            </a:lvl8pPr>
            <a:lvl9pPr>
              <a:defRPr sz="49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7702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1" y="878842"/>
            <a:ext cx="29626558" cy="3657600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2"/>
            <a:ext cx="14544677" cy="204723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600" b="1"/>
            </a:lvl1pPr>
            <a:lvl2pPr marL="1252507" indent="0">
              <a:buNone/>
              <a:defRPr sz="5467" b="1"/>
            </a:lvl2pPr>
            <a:lvl3pPr marL="2505015" indent="0">
              <a:buNone/>
              <a:defRPr sz="4934" b="1"/>
            </a:lvl3pPr>
            <a:lvl4pPr marL="3757522" indent="0">
              <a:buNone/>
              <a:defRPr sz="4400" b="1"/>
            </a:lvl4pPr>
            <a:lvl5pPr marL="5010030" indent="0">
              <a:buNone/>
              <a:defRPr sz="4400" b="1"/>
            </a:lvl5pPr>
            <a:lvl6pPr marL="6262537" indent="0">
              <a:buNone/>
              <a:defRPr sz="4400" b="1"/>
            </a:lvl6pPr>
            <a:lvl7pPr marL="7515047" indent="0">
              <a:buNone/>
              <a:defRPr sz="4400" b="1"/>
            </a:lvl7pPr>
            <a:lvl8pPr marL="8767554" indent="0">
              <a:buNone/>
              <a:defRPr sz="4400" b="1"/>
            </a:lvl8pPr>
            <a:lvl9pPr marL="10020062" indent="0">
              <a:buNone/>
              <a:defRPr sz="4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7" cy="12644122"/>
          </a:xfrm>
        </p:spPr>
        <p:txBody>
          <a:bodyPr/>
          <a:lstStyle>
            <a:defPPr>
              <a:defRPr kern="1200"/>
            </a:defPPr>
            <a:lvl1pPr>
              <a:defRPr sz="6600"/>
            </a:lvl1pPr>
            <a:lvl2pPr>
              <a:defRPr sz="5467"/>
            </a:lvl2pPr>
            <a:lvl3pPr>
              <a:defRPr sz="4934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4912362"/>
            <a:ext cx="14550389" cy="204723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600" b="1"/>
            </a:lvl1pPr>
            <a:lvl2pPr marL="1252507" indent="0">
              <a:buNone/>
              <a:defRPr sz="5467" b="1"/>
            </a:lvl2pPr>
            <a:lvl3pPr marL="2505015" indent="0">
              <a:buNone/>
              <a:defRPr sz="4934" b="1"/>
            </a:lvl3pPr>
            <a:lvl4pPr marL="3757522" indent="0">
              <a:buNone/>
              <a:defRPr sz="4400" b="1"/>
            </a:lvl4pPr>
            <a:lvl5pPr marL="5010030" indent="0">
              <a:buNone/>
              <a:defRPr sz="4400" b="1"/>
            </a:lvl5pPr>
            <a:lvl6pPr marL="6262537" indent="0">
              <a:buNone/>
              <a:defRPr sz="4400" b="1"/>
            </a:lvl6pPr>
            <a:lvl7pPr marL="7515047" indent="0">
              <a:buNone/>
              <a:defRPr sz="4400" b="1"/>
            </a:lvl7pPr>
            <a:lvl8pPr marL="8767554" indent="0">
              <a:buNone/>
              <a:defRPr sz="4400" b="1"/>
            </a:lvl8pPr>
            <a:lvl9pPr marL="10020062" indent="0">
              <a:buNone/>
              <a:defRPr sz="4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6959600"/>
            <a:ext cx="14550389" cy="12644122"/>
          </a:xfrm>
        </p:spPr>
        <p:txBody>
          <a:bodyPr/>
          <a:lstStyle>
            <a:defPPr>
              <a:defRPr kern="1200"/>
            </a:defPPr>
            <a:lvl1pPr>
              <a:defRPr sz="6600"/>
            </a:lvl1pPr>
            <a:lvl2pPr>
              <a:defRPr sz="5467"/>
            </a:lvl2pPr>
            <a:lvl3pPr>
              <a:defRPr sz="4934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2743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841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618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5" y="873760"/>
            <a:ext cx="10829927" cy="3718560"/>
          </a:xfrm>
        </p:spPr>
        <p:txBody>
          <a:bodyPr anchor="b"/>
          <a:lstStyle>
            <a:defPPr>
              <a:defRPr kern="1200"/>
            </a:defPPr>
            <a:lvl1pPr algn="l">
              <a:defRPr sz="54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79" y="873761"/>
            <a:ext cx="18402300" cy="18729961"/>
          </a:xfrm>
        </p:spPr>
        <p:txBody>
          <a:bodyPr/>
          <a:lstStyle>
            <a:defPPr>
              <a:defRPr kern="1200"/>
            </a:defPPr>
            <a:lvl1pPr>
              <a:defRPr sz="8800"/>
            </a:lvl1pPr>
            <a:lvl2pPr>
              <a:defRPr sz="7667"/>
            </a:lvl2pPr>
            <a:lvl3pPr>
              <a:defRPr sz="6600"/>
            </a:lvl3pPr>
            <a:lvl4pPr>
              <a:defRPr sz="5467"/>
            </a:lvl4pPr>
            <a:lvl5pPr>
              <a:defRPr sz="5467"/>
            </a:lvl5pPr>
            <a:lvl6pPr>
              <a:defRPr sz="5467"/>
            </a:lvl6pPr>
            <a:lvl7pPr>
              <a:defRPr sz="5467"/>
            </a:lvl7pPr>
            <a:lvl8pPr>
              <a:defRPr sz="5467"/>
            </a:lvl8pPr>
            <a:lvl9pPr>
              <a:defRPr sz="5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5" y="4592321"/>
            <a:ext cx="10829927" cy="15011402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867"/>
            </a:lvl1pPr>
            <a:lvl2pPr marL="1252507" indent="0">
              <a:buNone/>
              <a:defRPr sz="3267"/>
            </a:lvl2pPr>
            <a:lvl3pPr marL="2505015" indent="0">
              <a:buNone/>
              <a:defRPr sz="2733"/>
            </a:lvl3pPr>
            <a:lvl4pPr marL="3757522" indent="0">
              <a:buNone/>
              <a:defRPr sz="2467"/>
            </a:lvl4pPr>
            <a:lvl5pPr marL="5010030" indent="0">
              <a:buNone/>
              <a:defRPr sz="2467"/>
            </a:lvl5pPr>
            <a:lvl6pPr marL="6262537" indent="0">
              <a:buNone/>
              <a:defRPr sz="2467"/>
            </a:lvl6pPr>
            <a:lvl7pPr marL="7515047" indent="0">
              <a:buNone/>
              <a:defRPr sz="2467"/>
            </a:lvl7pPr>
            <a:lvl8pPr marL="8767554" indent="0">
              <a:buNone/>
              <a:defRPr sz="2467"/>
            </a:lvl8pPr>
            <a:lvl9pPr marL="10020062" indent="0">
              <a:buNone/>
              <a:defRPr sz="2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3981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15361920"/>
            <a:ext cx="19751041" cy="1813562"/>
          </a:xfrm>
        </p:spPr>
        <p:txBody>
          <a:bodyPr anchor="b"/>
          <a:lstStyle>
            <a:defPPr>
              <a:defRPr kern="1200"/>
            </a:defPPr>
            <a:lvl1pPr algn="l">
              <a:defRPr sz="54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1960881"/>
            <a:ext cx="19751041" cy="1316735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8800"/>
            </a:lvl1pPr>
            <a:lvl2pPr marL="1252507" indent="0">
              <a:buNone/>
              <a:defRPr sz="7667"/>
            </a:lvl2pPr>
            <a:lvl3pPr marL="2505015" indent="0">
              <a:buNone/>
              <a:defRPr sz="6600"/>
            </a:lvl3pPr>
            <a:lvl4pPr marL="3757522" indent="0">
              <a:buNone/>
              <a:defRPr sz="5467"/>
            </a:lvl4pPr>
            <a:lvl5pPr marL="5010030" indent="0">
              <a:buNone/>
              <a:defRPr sz="5467"/>
            </a:lvl5pPr>
            <a:lvl6pPr marL="6262537" indent="0">
              <a:buNone/>
              <a:defRPr sz="5467"/>
            </a:lvl6pPr>
            <a:lvl7pPr marL="7515047" indent="0">
              <a:buNone/>
              <a:defRPr sz="5467"/>
            </a:lvl7pPr>
            <a:lvl8pPr marL="8767554" indent="0">
              <a:buNone/>
              <a:defRPr sz="5467"/>
            </a:lvl8pPr>
            <a:lvl9pPr marL="10020062" indent="0">
              <a:buNone/>
              <a:defRPr sz="54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17175482"/>
            <a:ext cx="19751041" cy="257555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867"/>
            </a:lvl1pPr>
            <a:lvl2pPr marL="1252507" indent="0">
              <a:buNone/>
              <a:defRPr sz="3267"/>
            </a:lvl2pPr>
            <a:lvl3pPr marL="2505015" indent="0">
              <a:buNone/>
              <a:defRPr sz="2733"/>
            </a:lvl3pPr>
            <a:lvl4pPr marL="3757522" indent="0">
              <a:buNone/>
              <a:defRPr sz="2467"/>
            </a:lvl4pPr>
            <a:lvl5pPr marL="5010030" indent="0">
              <a:buNone/>
              <a:defRPr sz="2467"/>
            </a:lvl5pPr>
            <a:lvl6pPr marL="6262537" indent="0">
              <a:buNone/>
              <a:defRPr sz="2467"/>
            </a:lvl6pPr>
            <a:lvl7pPr marL="7515047" indent="0">
              <a:buNone/>
              <a:defRPr sz="2467"/>
            </a:lvl7pPr>
            <a:lvl8pPr marL="8767554" indent="0">
              <a:buNone/>
              <a:defRPr sz="2467"/>
            </a:lvl8pPr>
            <a:lvl9pPr marL="10020062" indent="0">
              <a:buNone/>
              <a:defRPr sz="2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8135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3177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557187" y="2814321"/>
            <a:ext cx="35553014" cy="5991860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98135" y="2814321"/>
            <a:ext cx="106110410" cy="5991860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96224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1" y="878842"/>
            <a:ext cx="29626558" cy="3657600"/>
          </a:xfrm>
          <a:prstGeom prst="rect">
            <a:avLst/>
          </a:prstGeom>
        </p:spPr>
        <p:txBody>
          <a:bodyPr vert="horz" lIns="375729" tIns="187871" rIns="375729" bIns="187871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1" y="5120642"/>
            <a:ext cx="29626558" cy="14483082"/>
          </a:xfrm>
          <a:prstGeom prst="rect">
            <a:avLst/>
          </a:prstGeom>
        </p:spPr>
        <p:txBody>
          <a:bodyPr vert="horz" lIns="375729" tIns="187871" rIns="375729" bIns="187871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0331"/>
            <a:ext cx="7680960" cy="1168400"/>
          </a:xfrm>
          <a:prstGeom prst="rect">
            <a:avLst/>
          </a:prstGeom>
        </p:spPr>
        <p:txBody>
          <a:bodyPr vert="horz" lIns="375729" tIns="187871" rIns="375729" bIns="187871" rtlCol="0" anchor="ctr"/>
          <a:lstStyle>
            <a:defPPr>
              <a:defRPr kern="1200"/>
            </a:defPPr>
            <a:lvl1pPr algn="l">
              <a:defRPr sz="32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E5B7-680E-44FF-962F-3113FAB5030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1" y="20340331"/>
            <a:ext cx="10424160" cy="1168400"/>
          </a:xfrm>
          <a:prstGeom prst="rect">
            <a:avLst/>
          </a:prstGeom>
        </p:spPr>
        <p:txBody>
          <a:bodyPr vert="horz" lIns="375729" tIns="187871" rIns="375729" bIns="187871" rtlCol="0" anchor="ctr"/>
          <a:lstStyle>
            <a:defPPr>
              <a:defRPr kern="1200"/>
            </a:defPPr>
            <a:lvl1pPr algn="ctr">
              <a:defRPr sz="32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1" y="20340331"/>
            <a:ext cx="7680960" cy="1168400"/>
          </a:xfrm>
          <a:prstGeom prst="rect">
            <a:avLst/>
          </a:prstGeom>
        </p:spPr>
        <p:txBody>
          <a:bodyPr vert="horz" lIns="375729" tIns="187871" rIns="375729" bIns="187871" rtlCol="0" anchor="ctr"/>
          <a:lstStyle>
            <a:defPPr>
              <a:defRPr kern="1200"/>
            </a:defPPr>
            <a:lvl1pPr algn="r">
              <a:defRPr sz="32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concludingcider  Size: 36x24</a:t>
            </a:r>
          </a:p>
        </p:txBody>
      </p:sp>
    </p:spTree>
    <p:extLst>
      <p:ext uri="{BB962C8B-B14F-4D97-AF65-F5344CB8AC3E}">
        <p14:creationId xmlns:p14="http://schemas.microsoft.com/office/powerpoint/2010/main" val="422247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ransition/>
  <p:txStyles>
    <p:titleStyle>
      <a:defPPr>
        <a:defRPr kern="1200"/>
      </a:defPPr>
      <a:lvl1pPr algn="ctr" defTabSz="2505015" rtl="0" eaLnBrk="1" latinLnBrk="0" hangingPunct="1">
        <a:spcBef>
          <a:spcPct val="0"/>
        </a:spcBef>
        <a:buNone/>
        <a:defRPr sz="120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939382" indent="-939382" algn="l" defTabSz="2505015" rtl="0" eaLnBrk="1" latinLnBrk="0" hangingPunct="1">
        <a:spcBef>
          <a:spcPct val="20000"/>
        </a:spcBef>
        <a:buFont typeface="Arial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1pPr>
      <a:lvl2pPr marL="2035328" indent="-782820" algn="l" defTabSz="2505015" rtl="0" eaLnBrk="1" latinLnBrk="0" hangingPunct="1">
        <a:spcBef>
          <a:spcPct val="20000"/>
        </a:spcBef>
        <a:buFont typeface="Arial" pitchFamily="34" charset="0"/>
        <a:buChar char="–"/>
        <a:defRPr sz="7667" kern="1200">
          <a:solidFill>
            <a:schemeClr val="tx1"/>
          </a:solidFill>
          <a:latin typeface="+mn-lt"/>
          <a:ea typeface="+mn-ea"/>
          <a:cs typeface="+mn-cs"/>
        </a:defRPr>
      </a:lvl2pPr>
      <a:lvl3pPr marL="3131269" indent="-626254" algn="l" defTabSz="2505015" rtl="0" eaLnBrk="1" latinLnBrk="0" hangingPunct="1">
        <a:spcBef>
          <a:spcPct val="20000"/>
        </a:spcBef>
        <a:buFont typeface="Arial" pitchFamily="34" charset="0"/>
        <a:buChar char="•"/>
        <a:defRPr sz="6600" kern="1200">
          <a:solidFill>
            <a:schemeClr val="tx1"/>
          </a:solidFill>
          <a:latin typeface="+mn-lt"/>
          <a:ea typeface="+mn-ea"/>
          <a:cs typeface="+mn-cs"/>
        </a:defRPr>
      </a:lvl3pPr>
      <a:lvl4pPr marL="4383776" indent="-626254" algn="l" defTabSz="2505015" rtl="0" eaLnBrk="1" latinLnBrk="0" hangingPunct="1">
        <a:spcBef>
          <a:spcPct val="20000"/>
        </a:spcBef>
        <a:buFont typeface="Arial" pitchFamily="34" charset="0"/>
        <a:buChar char="–"/>
        <a:defRPr sz="5467" kern="1200">
          <a:solidFill>
            <a:schemeClr val="tx1"/>
          </a:solidFill>
          <a:latin typeface="+mn-lt"/>
          <a:ea typeface="+mn-ea"/>
          <a:cs typeface="+mn-cs"/>
        </a:defRPr>
      </a:lvl4pPr>
      <a:lvl5pPr marL="5636283" indent="-626254" algn="l" defTabSz="2505015" rtl="0" eaLnBrk="1" latinLnBrk="0" hangingPunct="1">
        <a:spcBef>
          <a:spcPct val="20000"/>
        </a:spcBef>
        <a:buFont typeface="Arial" pitchFamily="34" charset="0"/>
        <a:buChar char="»"/>
        <a:defRPr sz="5467" kern="1200">
          <a:solidFill>
            <a:schemeClr val="tx1"/>
          </a:solidFill>
          <a:latin typeface="+mn-lt"/>
          <a:ea typeface="+mn-ea"/>
          <a:cs typeface="+mn-cs"/>
        </a:defRPr>
      </a:lvl5pPr>
      <a:lvl6pPr marL="6888793" indent="-626254" algn="l" defTabSz="2505015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6pPr>
      <a:lvl7pPr marL="8141301" indent="-626254" algn="l" defTabSz="2505015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7pPr>
      <a:lvl8pPr marL="9393808" indent="-626254" algn="l" defTabSz="2505015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8pPr>
      <a:lvl9pPr marL="10646316" indent="-626254" algn="l" defTabSz="2505015" rtl="0" eaLnBrk="1" latinLnBrk="0" hangingPunct="1">
        <a:spcBef>
          <a:spcPct val="20000"/>
        </a:spcBef>
        <a:buFont typeface="Arial" pitchFamily="34" charset="0"/>
        <a:buChar char="•"/>
        <a:defRPr sz="54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1pPr>
      <a:lvl2pPr marL="1252507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2pPr>
      <a:lvl3pPr marL="2505015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3pPr>
      <a:lvl4pPr marL="3757522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4pPr>
      <a:lvl5pPr marL="5010030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5pPr>
      <a:lvl6pPr marL="6262537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6pPr>
      <a:lvl7pPr marL="7515047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7pPr>
      <a:lvl8pPr marL="8767554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8pPr>
      <a:lvl9pPr marL="10020062" algn="l" defTabSz="2505015" rtl="0" eaLnBrk="1" latinLnBrk="0" hangingPunct="1">
        <a:defRPr sz="49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chart" Target="../charts/chart1.xml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D1E8EEA0-ED67-4B13-A826-1A8457285CCB}"/>
              </a:ext>
            </a:extLst>
          </p:cNvPr>
          <p:cNvSpPr txBox="1"/>
          <p:nvPr/>
        </p:nvSpPr>
        <p:spPr>
          <a:xfrm>
            <a:off x="3810000" y="1016000"/>
            <a:ext cx="23418802" cy="19582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507516">
              <a:spcBef>
                <a:spcPct val="20000"/>
              </a:spcBef>
              <a:defRPr/>
            </a:pPr>
            <a:r>
              <a:rPr lang="en-US" sz="5700" b="1" dirty="0" err="1">
                <a:solidFill>
                  <a:srgbClr val="434342"/>
                </a:solidFill>
                <a:latin typeface="Quattrocento" panose="02020802030000000404" pitchFamily="18" charset="0"/>
              </a:rPr>
              <a:t>StreamGuard</a:t>
            </a:r>
            <a:r>
              <a:rPr lang="en-US" sz="5700" b="1" dirty="0">
                <a:solidFill>
                  <a:srgbClr val="434342"/>
                </a:solidFill>
                <a:latin typeface="Quattrocento" panose="02020802030000000404" pitchFamily="18" charset="0"/>
              </a:rPr>
              <a:t>: Low-Overhead Resilience for</a:t>
            </a:r>
          </a:p>
          <a:p>
            <a:pPr algn="ctr" defTabSz="2507516">
              <a:spcBef>
                <a:spcPct val="20000"/>
              </a:spcBef>
              <a:defRPr/>
            </a:pPr>
            <a:r>
              <a:rPr lang="en-US" sz="5700" b="1" dirty="0">
                <a:solidFill>
                  <a:srgbClr val="434342"/>
                </a:solidFill>
                <a:latin typeface="Quattrocento" panose="02020802030000000404" pitchFamily="18" charset="0"/>
              </a:rPr>
              <a:t>Real-time HPC Data Streams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17285E29-F4EF-4B9F-90C7-5108CA16C10F}"/>
              </a:ext>
            </a:extLst>
          </p:cNvPr>
          <p:cNvSpPr txBox="1"/>
          <p:nvPr/>
        </p:nvSpPr>
        <p:spPr>
          <a:xfrm>
            <a:off x="3810000" y="3150354"/>
            <a:ext cx="23418802" cy="113877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7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  <a:t>Hai Duc Nguyen, Bogdan Nicolae, Tekin Bicer, Amal Gueroudji, Matthieu Dorier, Kyle Chard, and Ian Foster</a:t>
            </a:r>
            <a:br>
              <a:rPr lang="en-US" sz="37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</a:br>
            <a:r>
              <a:rPr lang="en-US" sz="3700" dirty="0">
                <a:solidFill>
                  <a:srgbClr val="434342"/>
                </a:solidFill>
                <a:latin typeface="Quattrocento Sans" panose="020B0502050000020003" pitchFamily="34" charset="0"/>
                <a:cs typeface="Arial" pitchFamily="34" charset="0"/>
              </a:rPr>
              <a:t>Argonne National Laboratory and University of Chicago</a:t>
            </a:r>
          </a:p>
        </p:txBody>
      </p:sp>
      <p:sp>
        <p:nvSpPr>
          <p:cNvPr id="36" name="Motivation text"/>
          <p:cNvSpPr txBox="1">
            <a:spLocks noChangeArrowheads="1"/>
          </p:cNvSpPr>
          <p:nvPr/>
        </p:nvSpPr>
        <p:spPr bwMode="auto">
          <a:xfrm>
            <a:off x="530352" y="5532120"/>
            <a:ext cx="7525512" cy="2041072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Modern scientific instruments </a:t>
            </a:r>
            <a:r>
              <a:rPr lang="en-US" sz="19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stream data continuously</a:t>
            </a: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and require </a:t>
            </a:r>
            <a:r>
              <a:rPr lang="en-US" sz="19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near-real-time analysis</a:t>
            </a: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to steer ongoing experiments.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Workflows are </a:t>
            </a:r>
            <a:r>
              <a:rPr lang="en-US" sz="19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chains of producer → consumer stages</a:t>
            </a: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running on HPC, each with many parallel workers.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Every stage must deliver useful output </a:t>
            </a:r>
            <a:r>
              <a:rPr lang="en-US" sz="19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within a real-time deadline</a:t>
            </a:r>
            <a:r>
              <a:rPr lang="en-US" sz="19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(Quality of Service).</a:t>
            </a: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533401" y="4866307"/>
            <a:ext cx="7526891" cy="609600"/>
          </a:xfrm>
          <a:prstGeom prst="rect">
            <a:avLst/>
          </a:prstGeom>
          <a:solidFill>
            <a:srgbClr val="0070C0"/>
          </a:solidFill>
          <a:ln w="12700">
            <a:noFill/>
            <a:miter lim="800000"/>
          </a:ln>
          <a:effectLst/>
        </p:spPr>
        <p:txBody>
          <a:bodyPr wrap="none" lIns="91417" tIns="0" rIns="91417" bIns="0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>
                <a:solidFill>
                  <a:srgbClr val="FFFFFF"/>
                </a:solidFill>
                <a:latin typeface="Quattrocento" panose="02020802030000000404" pitchFamily="18" charset="0"/>
              </a:rPr>
              <a:t>Motivation</a:t>
            </a:r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EC622DF4-7348-4920-BF98-0DAAEC5CE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1637" y="4866307"/>
            <a:ext cx="8427163" cy="609598"/>
          </a:xfrm>
          <a:prstGeom prst="rect">
            <a:avLst/>
          </a:prstGeom>
          <a:solidFill>
            <a:srgbClr val="0070C0"/>
          </a:solidFill>
          <a:ln w="12700">
            <a:noFill/>
            <a:miter lim="800000"/>
          </a:ln>
          <a:effectLst/>
        </p:spPr>
        <p:txBody>
          <a:bodyPr wrap="none" lIns="91417" tIns="0" rIns="91417" bIns="0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 err="1">
                <a:solidFill>
                  <a:srgbClr val="FFFFFF"/>
                </a:solidFill>
                <a:latin typeface="Quattrocento" panose="02020802030000000404" pitchFamily="18" charset="0"/>
              </a:rPr>
              <a:t>StreamGuard</a:t>
            </a:r>
            <a:r>
              <a:rPr lang="en-US" sz="2400" b="1" dirty="0">
                <a:solidFill>
                  <a:srgbClr val="FFFFFF"/>
                </a:solidFill>
                <a:latin typeface="Quattrocento" panose="02020802030000000404" pitchFamily="18" charset="0"/>
              </a:rPr>
              <a:t>: Resilient HPC Streaming</a:t>
            </a:r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C0234601-D933-4311-BDF5-42800658B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9701" y="4866307"/>
            <a:ext cx="14685299" cy="606322"/>
          </a:xfrm>
          <a:prstGeom prst="rect">
            <a:avLst/>
          </a:prstGeom>
          <a:solidFill>
            <a:srgbClr val="0070C0"/>
          </a:solidFill>
          <a:ln w="12700">
            <a:noFill/>
            <a:miter lim="800000"/>
          </a:ln>
          <a:effectLst/>
        </p:spPr>
        <p:txBody>
          <a:bodyPr wrap="none" lIns="91417" tIns="0" rIns="91417" bIns="0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>
                <a:solidFill>
                  <a:srgbClr val="FFFFFF"/>
                </a:solidFill>
                <a:latin typeface="Quattrocento" panose="02020802030000000404" pitchFamily="18" charset="0"/>
              </a:rPr>
              <a:t>Results</a:t>
            </a: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7E80D786-D74D-4324-9F95-59B544BBB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1" y="10424160"/>
            <a:ext cx="7526891" cy="609600"/>
          </a:xfrm>
          <a:prstGeom prst="rect">
            <a:avLst/>
          </a:prstGeom>
          <a:solidFill>
            <a:srgbClr val="0070C0"/>
          </a:solidFill>
          <a:ln w="12700">
            <a:noFill/>
            <a:miter lim="800000"/>
          </a:ln>
          <a:effectLst/>
        </p:spPr>
        <p:txBody>
          <a:bodyPr wrap="none" lIns="91417" tIns="0" rIns="91417" bIns="0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>
                <a:solidFill>
                  <a:srgbClr val="FFFFFF"/>
                </a:solidFill>
                <a:latin typeface="Quattrocento" panose="02020802030000000404" pitchFamily="18" charset="0"/>
              </a:rPr>
              <a:t>Challenges</a:t>
            </a:r>
          </a:p>
        </p:txBody>
      </p:sp>
      <p:sp>
        <p:nvSpPr>
          <p:cNvPr id="47" name="TextBox 19">
            <a:extLst>
              <a:ext uri="{FF2B5EF4-FFF2-40B4-BE49-F238E27FC236}">
                <a16:creationId xmlns:a16="http://schemas.microsoft.com/office/drawing/2014/main" id="{4D3A2477-3C43-4479-B3DF-0DE4A78D1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4599" y="17610717"/>
            <a:ext cx="8153399" cy="1947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Nguyen HD, et. al. (2025) Resilient execution of distributed X-ray image analysis workflows. Front. High Perform. </a:t>
            </a:r>
            <a:r>
              <a:rPr lang="en-US" sz="1600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Comput</a:t>
            </a: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. 3:1550855.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Dorier M, et. al. (2025) Toward a persistent event-streaming system for high-performance computing applications. Front. High Perform. </a:t>
            </a:r>
            <a:r>
              <a:rPr lang="en-US" sz="1600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Comput</a:t>
            </a: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. 3:1638203.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Nguyen HD, et. al. (2026) </a:t>
            </a:r>
            <a:r>
              <a:rPr lang="en-US" sz="1600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StreamGuard</a:t>
            </a: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: Low-Overhead Resilience for Real-time HPC Data Streams. Proceeding of the ACM International Conference on Supercomputing 2026</a:t>
            </a:r>
          </a:p>
        </p:txBody>
      </p:sp>
      <p:sp>
        <p:nvSpPr>
          <p:cNvPr id="48" name="Rectangle 10">
            <a:extLst>
              <a:ext uri="{FF2B5EF4-FFF2-40B4-BE49-F238E27FC236}">
                <a16:creationId xmlns:a16="http://schemas.microsoft.com/office/drawing/2014/main" id="{A5FFB638-77FE-4FE9-BAAF-8DA0D3D62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99701" y="16840200"/>
            <a:ext cx="8208298" cy="609600"/>
          </a:xfrm>
          <a:prstGeom prst="rect">
            <a:avLst/>
          </a:prstGeom>
          <a:solidFill>
            <a:srgbClr val="0070C0"/>
          </a:solidFill>
          <a:ln w="12700">
            <a:noFill/>
            <a:miter lim="800000"/>
          </a:ln>
          <a:effectLst/>
        </p:spPr>
        <p:txBody>
          <a:bodyPr wrap="none" lIns="91417" tIns="0" rIns="91417" bIns="0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>
                <a:solidFill>
                  <a:srgbClr val="FFFFFF"/>
                </a:solidFill>
                <a:latin typeface="Quattrocento" panose="02020802030000000404" pitchFamily="18" charset="0"/>
              </a:rPr>
              <a:t>Publications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C78AA2-0DE8-4DD1-9E71-46900FAFFB36}"/>
              </a:ext>
            </a:extLst>
          </p:cNvPr>
          <p:cNvGrpSpPr/>
          <p:nvPr/>
        </p:nvGrpSpPr>
        <p:grpSpPr>
          <a:xfrm>
            <a:off x="1" y="0"/>
            <a:ext cx="32918400" cy="21945600"/>
            <a:chOff x="1828800" y="0"/>
            <a:chExt cx="29260800" cy="21945600"/>
          </a:xfrm>
        </p:grpSpPr>
        <p:sp>
          <p:nvSpPr>
            <p:cNvPr id="50" name="Rectangle 49"/>
            <p:cNvSpPr/>
            <p:nvPr/>
          </p:nvSpPr>
          <p:spPr>
            <a:xfrm rot="5400000" flipH="1">
              <a:off x="15798800" y="6654800"/>
              <a:ext cx="1320800" cy="292608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endParaRPr lang="en-US" sz="3524"/>
            </a:p>
          </p:txBody>
        </p:sp>
        <p:cxnSp>
          <p:nvCxnSpPr>
            <p:cNvPr id="51" name="Straight Connector 50"/>
            <p:cNvCxnSpPr/>
            <p:nvPr/>
          </p:nvCxnSpPr>
          <p:spPr>
            <a:xfrm rot="5400000" flipH="1">
              <a:off x="16459200" y="5740401"/>
              <a:ext cx="0" cy="29260800"/>
            </a:xfrm>
            <a:prstGeom prst="line">
              <a:avLst/>
            </a:prstGeom>
            <a:ln w="2540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C299F74-A7A2-4C5B-AAF3-D8CD94AEEADF}"/>
                </a:ext>
              </a:extLst>
            </p:cNvPr>
            <p:cNvSpPr/>
            <p:nvPr/>
          </p:nvSpPr>
          <p:spPr>
            <a:xfrm rot="5400000" flipH="1">
              <a:off x="16230602" y="-14401800"/>
              <a:ext cx="457199" cy="29260800"/>
            </a:xfrm>
            <a:prstGeom prst="rect">
              <a:avLst/>
            </a:prstGeom>
            <a:solidFill>
              <a:srgbClr val="08A1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kern="1200"/>
              </a:defPPr>
            </a:lstStyle>
            <a:p>
              <a:pPr algn="ctr"/>
              <a:endParaRPr lang="en-US" sz="3524"/>
            </a:p>
          </p:txBody>
        </p:sp>
      </p:grpSp>
      <p:pic>
        <p:nvPicPr>
          <p:cNvPr id="1026" name="Picture 2" descr="University of Chicago Logo and symbol, meaning, history, PNG, brand">
            <a:extLst>
              <a:ext uri="{FF2B5EF4-FFF2-40B4-BE49-F238E27FC236}">
                <a16:creationId xmlns:a16="http://schemas.microsoft.com/office/drawing/2014/main" id="{A1073110-B16B-33FA-2380-BA955EB45B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53" b="29999"/>
          <a:stretch>
            <a:fillRect/>
          </a:stretch>
        </p:blipFill>
        <p:spPr bwMode="auto">
          <a:xfrm>
            <a:off x="24764715" y="1016000"/>
            <a:ext cx="7526891" cy="167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BB0BED-5983-BFDB-8145-490CD843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633261"/>
            <a:ext cx="6629400" cy="231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9">
            <a:extLst>
              <a:ext uri="{FF2B5EF4-FFF2-40B4-BE49-F238E27FC236}">
                <a16:creationId xmlns:a16="http://schemas.microsoft.com/office/drawing/2014/main" id="{D8C8F0F5-50D6-6860-E247-128467274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7600" y="17602200"/>
            <a:ext cx="5901267" cy="140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This work was supported in part by the U.S. Department of Energy under Contract DE-AC02-06CH11357, as well as the National Science Foundation (NSF), Office of Advanced Cyberinfrastructure, under grants CSSI-2411386 and CSSI-2514056.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F267476-7C5D-F05C-372A-E69F5140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7600" y="16840200"/>
            <a:ext cx="5867400" cy="609600"/>
          </a:xfrm>
          <a:prstGeom prst="rect">
            <a:avLst/>
          </a:prstGeom>
          <a:solidFill>
            <a:srgbClr val="0070C0"/>
          </a:solidFill>
          <a:ln w="12700">
            <a:noFill/>
            <a:miter lim="800000"/>
          </a:ln>
          <a:effectLst/>
        </p:spPr>
        <p:txBody>
          <a:bodyPr wrap="none" lIns="91417" tIns="0" rIns="91417" bIns="0" anchor="ctr" anchorCtr="0"/>
          <a:lstStyle>
            <a:defPPr>
              <a:defRPr kern="1200"/>
            </a:defPPr>
          </a:lstStyle>
          <a:p>
            <a:pPr algn="ctr" defTabSz="3135215">
              <a:defRPr/>
            </a:pPr>
            <a:r>
              <a:rPr lang="en-US" sz="2400" b="1" dirty="0">
                <a:solidFill>
                  <a:srgbClr val="FFFFFF"/>
                </a:solidFill>
                <a:latin typeface="Quattrocento" panose="02020802030000000404" pitchFamily="18" charset="0"/>
              </a:rPr>
              <a:t>Acknowledgement</a:t>
            </a:r>
          </a:p>
        </p:txBody>
      </p:sp>
      <p:sp>
        <p:nvSpPr>
          <p:cNvPr id="7" name="Implementation"/>
          <p:cNvSpPr txBox="1">
            <a:spLocks noChangeArrowheads="1"/>
          </p:cNvSpPr>
          <p:nvPr/>
        </p:nvSpPr>
        <p:spPr bwMode="auto">
          <a:xfrm>
            <a:off x="8778143" y="18528129"/>
            <a:ext cx="8214457" cy="1330749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Parsl.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Manages workers and automatically restarts failed ones.</a:t>
            </a:r>
          </a:p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Mofka.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HPC-native message queue for reliable producer–consumer delivery.</a:t>
            </a:r>
          </a:p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Customized VeloC.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Per-partition asynchronous checkpoints with adaptive period.</a:t>
            </a:r>
          </a:p>
          <a:p>
            <a:pPr>
              <a:lnSpc>
                <a:spcPct val="110000"/>
              </a:lnSpc>
            </a:pPr>
            <a:r>
              <a:rPr lang="en-US" sz="1800" b="1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Load balancer.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Checkpoints and migrates lagging streams to faster workers.</a:t>
            </a:r>
          </a:p>
        </p:txBody>
      </p:sp>
      <p:sp>
        <p:nvSpPr>
          <p:cNvPr id="330" name="Stop-fail header"/>
          <p:cNvSpPr txBox="1">
            <a:spLocks noChangeArrowheads="1"/>
          </p:cNvSpPr>
          <p:nvPr/>
        </p:nvSpPr>
        <p:spPr bwMode="auto">
          <a:xfrm>
            <a:off x="609600" y="11378536"/>
            <a:ext cx="3645574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l">
              <a:lnSpc>
                <a:spcPct val="110000"/>
              </a:lnSpc>
            </a:pPr>
            <a:r>
              <a:rPr lang="en-US" sz="2200" b="1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Stop-fail events</a:t>
            </a:r>
          </a:p>
        </p:txBody>
      </p:sp>
      <p:sp>
        <p:nvSpPr>
          <p:cNvPr id="331" name="Stop-fail bullets"/>
          <p:cNvSpPr txBox="1">
            <a:spLocks noChangeArrowheads="1"/>
          </p:cNvSpPr>
          <p:nvPr/>
        </p:nvSpPr>
        <p:spPr bwMode="auto">
          <a:xfrm>
            <a:off x="530352" y="12032499"/>
            <a:ext cx="3774614" cy="2854243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Workers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crash unexpectedly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— out of memory, segfaults, node loss.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Failures grow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frequent at scale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— failure probability rises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exponentially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with system size.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Naive recovery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restarts work from scratch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— costly recomputation misses the deadline.</a:t>
            </a:r>
          </a:p>
        </p:txBody>
      </p:sp>
      <p:sp>
        <p:nvSpPr>
          <p:cNvPr id="333" name="Slowdown header"/>
          <p:cNvSpPr txBox="1">
            <a:spLocks noChangeArrowheads="1"/>
          </p:cNvSpPr>
          <p:nvPr/>
        </p:nvSpPr>
        <p:spPr bwMode="auto">
          <a:xfrm>
            <a:off x="555248" y="16208049"/>
            <a:ext cx="3724822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l">
              <a:lnSpc>
                <a:spcPct val="110000"/>
              </a:lnSpc>
            </a:pPr>
            <a:r>
              <a:rPr lang="en-US" sz="2200" b="1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  <a:t>Slowdown anomalies</a:t>
            </a:r>
          </a:p>
        </p:txBody>
      </p:sp>
      <p:sp>
        <p:nvSpPr>
          <p:cNvPr id="334" name="Slowdown bullets"/>
          <p:cNvSpPr txBox="1">
            <a:spLocks noChangeArrowheads="1"/>
          </p:cNvSpPr>
          <p:nvPr/>
        </p:nvSpPr>
        <p:spPr bwMode="auto">
          <a:xfrm>
            <a:off x="490117" y="16753061"/>
            <a:ext cx="3724822" cy="2854243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Even healthy workers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run unevenly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due to noisy hardware and shared resources.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A few slow workers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drag down the whole pipeline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— the slowest one sets the end-to-end deadline.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Static load assignment </a:t>
            </a:r>
            <a:r>
              <a:rPr lang="en-US" sz="18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cannot adapt</a:t>
            </a:r>
            <a:r>
              <a:rPr lang="en-US" sz="18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 as conditions change.</a:t>
            </a:r>
          </a:p>
        </p:txBody>
      </p:sp>
      <p:sp>
        <p:nvSpPr>
          <p:cNvPr id="341" name="Failure resilience header"/>
          <p:cNvSpPr txBox="1">
            <a:spLocks noChangeArrowheads="1"/>
          </p:cNvSpPr>
          <p:nvPr/>
        </p:nvSpPr>
        <p:spPr bwMode="auto">
          <a:xfrm>
            <a:off x="8743044" y="10210800"/>
            <a:ext cx="242230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ctr">
              <a:lnSpc>
                <a:spcPct val="110000"/>
              </a:lnSpc>
            </a:pPr>
            <a:r>
              <a:rPr lang="en-US" sz="2200" b="1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Failure resilience</a:t>
            </a:r>
          </a:p>
        </p:txBody>
      </p:sp>
      <p:sp>
        <p:nvSpPr>
          <p:cNvPr id="343" name="Failure resilience bullets"/>
          <p:cNvSpPr txBox="1">
            <a:spLocks noChangeArrowheads="1"/>
          </p:cNvSpPr>
          <p:nvPr/>
        </p:nvSpPr>
        <p:spPr bwMode="auto">
          <a:xfrm>
            <a:off x="8853055" y="10703241"/>
            <a:ext cx="3521732" cy="2631490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spcAft>
                <a:spcPts val="600"/>
              </a:spcAft>
            </a:pPr>
            <a:r>
              <a:rPr lang="en-US" sz="17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Asynchronous. </a:t>
            </a:r>
            <a:r>
              <a:rPr lang="en-US" sz="17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Workers checkpoint and restart independently — no inter-worker coordination.</a:t>
            </a:r>
          </a:p>
          <a:p>
            <a:pPr>
              <a:spcAft>
                <a:spcPts val="600"/>
              </a:spcAft>
            </a:pPr>
            <a:r>
              <a:rPr lang="en-US" sz="17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Non-blocking. </a:t>
            </a:r>
            <a:r>
              <a:rPr lang="en-US" sz="17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Checkpoint I/O overlaps computation — overhead removed from the critical path.</a:t>
            </a:r>
          </a:p>
          <a:p>
            <a:pPr>
              <a:spcAft>
                <a:spcPts val="600"/>
              </a:spcAft>
            </a:pPr>
            <a:r>
              <a:rPr lang="en-US" sz="17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Adaptive. </a:t>
            </a:r>
            <a:r>
              <a:rPr lang="en-US" sz="17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Checkpoint frequency tunes itself at runtime to observed I/O cost and failure rate.</a:t>
            </a:r>
          </a:p>
        </p:txBody>
      </p:sp>
      <p:sp>
        <p:nvSpPr>
          <p:cNvPr id="344" name="Anomaly resilience header"/>
          <p:cNvSpPr txBox="1">
            <a:spLocks noChangeArrowheads="1"/>
          </p:cNvSpPr>
          <p:nvPr/>
        </p:nvSpPr>
        <p:spPr bwMode="auto">
          <a:xfrm>
            <a:off x="8743044" y="13622451"/>
            <a:ext cx="2595233" cy="473986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ctr">
              <a:lnSpc>
                <a:spcPct val="110000"/>
              </a:lnSpc>
            </a:pPr>
            <a:r>
              <a:rPr lang="en-US" sz="2200" b="1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  <a:t>Anomaly resilience</a:t>
            </a:r>
          </a:p>
        </p:txBody>
      </p:sp>
      <p:sp>
        <p:nvSpPr>
          <p:cNvPr id="346" name="Anomaly resilience bullets"/>
          <p:cNvSpPr txBox="1">
            <a:spLocks noChangeArrowheads="1"/>
          </p:cNvSpPr>
          <p:nvPr/>
        </p:nvSpPr>
        <p:spPr bwMode="auto">
          <a:xfrm>
            <a:off x="8907353" y="14087607"/>
            <a:ext cx="3248651" cy="2203873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Progress-driven. </a:t>
            </a:r>
            <a:r>
              <a:rPr lang="en-US" sz="17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Tracks per-stream progress and keeps all partitions advancing at similar rates.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700" b="1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Capacity-aware. </a:t>
            </a:r>
            <a:r>
              <a:rPr lang="en-US" sz="1700" b="0" dirty="0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When imbalance is detected, slow partitions are migrated to faster workers with spare capacity.</a:t>
            </a:r>
          </a:p>
        </p:txBody>
      </p:sp>
      <p:pic>
        <p:nvPicPr>
          <p:cNvPr id="1032" name="Picture 1031" descr="frontiers_fig3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066" y="11277600"/>
            <a:ext cx="3043934" cy="1662248"/>
          </a:xfrm>
          <a:prstGeom prst="rect">
            <a:avLst/>
          </a:prstGeom>
        </p:spPr>
      </p:pic>
      <p:pic>
        <p:nvPicPr>
          <p:cNvPr id="1034" name="Picture 1033" descr="frontiers_fig4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0911" y="16154400"/>
            <a:ext cx="3351489" cy="1714789"/>
          </a:xfrm>
          <a:prstGeom prst="rect">
            <a:avLst/>
          </a:prstGeom>
        </p:spPr>
      </p:pic>
      <p:pic>
        <p:nvPicPr>
          <p:cNvPr id="1035" name="Picture 1034" descr="frontiers_fig4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0461" y="17983200"/>
            <a:ext cx="2408539" cy="1783195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D2B96FE-11E7-F474-B3EF-08A43081A6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5577672"/>
              </p:ext>
            </p:extLst>
          </p:nvPr>
        </p:nvGraphicFramePr>
        <p:xfrm>
          <a:off x="4304966" y="13075084"/>
          <a:ext cx="3739072" cy="2645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3" name="Mechanisms strip">
            <a:extLst>
              <a:ext uri="{FF2B5EF4-FFF2-40B4-BE49-F238E27FC236}">
                <a16:creationId xmlns:a16="http://schemas.microsoft.com/office/drawing/2014/main" id="{55291B88-0EF2-288F-A4E0-D928C55C9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852" y="10268271"/>
            <a:ext cx="4629912" cy="432939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l">
              <a:lnSpc>
                <a:spcPct val="110000"/>
              </a:lnSpc>
            </a:pPr>
            <a:r>
              <a:rPr lang="en-US" sz="1800" b="1" i="1" dirty="0">
                <a:solidFill>
                  <a:schemeClr val="accent2">
                    <a:lumMod val="60000"/>
                    <a:lumOff val="40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Decoupled, Lightweight Checkpoint-Restart</a:t>
            </a:r>
          </a:p>
        </p:txBody>
      </p:sp>
      <p:sp>
        <p:nvSpPr>
          <p:cNvPr id="26" name="Design overview"/>
          <p:cNvSpPr txBox="1">
            <a:spLocks noChangeArrowheads="1"/>
          </p:cNvSpPr>
          <p:nvPr/>
        </p:nvSpPr>
        <p:spPr bwMode="auto">
          <a:xfrm>
            <a:off x="8705088" y="5550408"/>
            <a:ext cx="8135112" cy="1719445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lnSpc>
                <a:spcPct val="110000"/>
              </a:lnSpc>
            </a:pPr>
            <a:r>
              <a:rPr lang="en-US" sz="1900" b="1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StreamGuard delivers resilience through two design principles:</a:t>
            </a:r>
          </a:p>
          <a:p>
            <a:pPr>
              <a:lnSpc>
                <a:spcPct val="110000"/>
              </a:lnSpc>
            </a:pPr>
            <a:r>
              <a:rPr lang="en-US" sz="1900" b="1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Modular. </a:t>
            </a:r>
            <a:r>
              <a:rPr lang="en-US" sz="1900" b="0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Resilience is decoupled from the execution framework — applied only to the components that need it.</a:t>
            </a:r>
          </a:p>
          <a:p>
            <a:pPr>
              <a:lnSpc>
                <a:spcPct val="110000"/>
              </a:lnSpc>
            </a:pPr>
            <a:r>
              <a:rPr lang="en-US" sz="1900" b="1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Lightweight. </a:t>
            </a:r>
            <a:r>
              <a:rPr lang="en-US" sz="1900" b="0" dirty="0" err="1">
                <a:solidFill>
                  <a:schemeClr val="tx2"/>
                </a:solidFill>
                <a:latin typeface="Quattrocento Sans" panose="020B0502050000020003" pitchFamily="34" charset="0"/>
                <a:cs typeface="Arial" pitchFamily="34" charset="0"/>
              </a:rPr>
              <a:t>Operates at each producer–consumer pair to avoid costly workflow-wide coordination.</a:t>
            </a:r>
          </a:p>
        </p:txBody>
      </p:sp>
      <p:sp>
        <p:nvSpPr>
          <p:cNvPr id="14" name="Mechanisms strip">
            <a:extLst>
              <a:ext uri="{FF2B5EF4-FFF2-40B4-BE49-F238E27FC236}">
                <a16:creationId xmlns:a16="http://schemas.microsoft.com/office/drawing/2014/main" id="{210FAD5D-8705-81B4-F0B0-DF7F48E88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8277" y="13665630"/>
            <a:ext cx="4629912" cy="432939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l">
              <a:lnSpc>
                <a:spcPct val="110000"/>
              </a:lnSpc>
            </a:pPr>
            <a:r>
              <a:rPr lang="en-US" sz="1800" b="1" i="1" dirty="0">
                <a:solidFill>
                  <a:srgbClr val="B375D6"/>
                </a:solidFill>
                <a:latin typeface="Quattrocento Sans" panose="020B0502050000020003" pitchFamily="34" charset="0"/>
                <a:cs typeface="Arial" pitchFamily="34" charset="0"/>
              </a:rPr>
              <a:t>Progress-Aware Load Balancing</a:t>
            </a:r>
          </a:p>
        </p:txBody>
      </p:sp>
      <p:sp>
        <p:nvSpPr>
          <p:cNvPr id="1116" name="Anomaly resilience header">
            <a:extLst>
              <a:ext uri="{FF2B5EF4-FFF2-40B4-BE49-F238E27FC236}">
                <a16:creationId xmlns:a16="http://schemas.microsoft.com/office/drawing/2014/main" id="{BA1E49C6-7B39-2726-A8F9-204E6B02E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4773" y="16352198"/>
            <a:ext cx="2299904" cy="473986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ctr">
              <a:lnSpc>
                <a:spcPct val="110000"/>
              </a:lnSpc>
            </a:pP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Implementation</a:t>
            </a:r>
          </a:p>
        </p:txBody>
      </p:sp>
      <p:sp>
        <p:nvSpPr>
          <p:cNvPr id="1117" name="Mechanisms strip">
            <a:extLst>
              <a:ext uri="{FF2B5EF4-FFF2-40B4-BE49-F238E27FC236}">
                <a16:creationId xmlns:a16="http://schemas.microsoft.com/office/drawing/2014/main" id="{00ECFBA6-2CB0-FDE8-CAB6-5227B1285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9736" y="16402356"/>
            <a:ext cx="1944624" cy="432939"/>
          </a:xfrm>
          <a:prstGeom prst="rect">
            <a:avLst/>
          </a:prstGeom>
          <a:noFill/>
          <a:ln>
            <a:noFill/>
          </a:ln>
        </p:spPr>
        <p:txBody>
          <a:bodyPr wrap="square" lIns="91440" tIns="60960" rIns="91440" bIns="60960" anchor="t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 algn="l">
              <a:lnSpc>
                <a:spcPct val="110000"/>
              </a:lnSpc>
            </a:pPr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Quattrocento Sans" panose="020B0502050000020003" pitchFamily="34" charset="0"/>
                <a:cs typeface="Arial" pitchFamily="34" charset="0"/>
              </a:rPr>
              <a:t>Resilience SDK</a:t>
            </a:r>
          </a:p>
        </p:txBody>
      </p:sp>
      <p:sp>
        <p:nvSpPr>
          <p:cNvPr id="34" name="Takeaway banner"/>
          <p:cNvSpPr txBox="1">
            <a:spLocks noChangeArrowheads="1"/>
          </p:cNvSpPr>
          <p:nvPr/>
        </p:nvSpPr>
        <p:spPr bwMode="auto">
          <a:xfrm>
            <a:off x="17602200" y="5807470"/>
            <a:ext cx="4360958" cy="2126249"/>
          </a:xfrm>
          <a:prstGeom prst="rect">
            <a:avLst/>
          </a:prstGeom>
          <a:noFill/>
          <a:ln w="19050" cap="flat" cmpd="sng" algn="ctr">
            <a:noFill/>
            <a:prstDash val="solid"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lnSpc>
                <a:spcPct val="110000"/>
              </a:lnSpc>
            </a:pPr>
            <a:r>
              <a:rPr lang="en-US" sz="1900" b="1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Failure resilience.</a:t>
            </a:r>
            <a:br>
              <a:rPr lang="en-US" sz="1900" b="1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</a:br>
            <a:r>
              <a:rPr lang="en-US" sz="1900" b="0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Non-blocking, asynchronous checkpoint-restart adds </a:t>
            </a:r>
            <a:r>
              <a:rPr lang="en-US" sz="1900" b="1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&lt; 1% overhead</a:t>
            </a:r>
            <a:r>
              <a:rPr lang="en-US" sz="1900" b="0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 and meets real-time deadlines, </a:t>
            </a:r>
            <a:r>
              <a:rPr lang="en-US" sz="1900" b="1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even under extreme failure rates</a:t>
            </a:r>
            <a:r>
              <a:rPr lang="en-US" sz="1900" b="0" dirty="0">
                <a:solidFill>
                  <a:schemeClr val="accent2"/>
                </a:solidFill>
                <a:latin typeface="Quattrocento Sans" panose="020B0502050000020003" pitchFamily="34" charset="0"/>
                <a:cs typeface="Arial" pitchFamily="34" charset="0"/>
              </a:rPr>
              <a:t> where static or synchronized checkpointing breaks down.</a:t>
            </a:r>
          </a:p>
        </p:txBody>
      </p:sp>
      <p:sp>
        <p:nvSpPr>
          <p:cNvPr id="1120" name="Takeaway banner">
            <a:extLst>
              <a:ext uri="{FF2B5EF4-FFF2-40B4-BE49-F238E27FC236}">
                <a16:creationId xmlns:a16="http://schemas.microsoft.com/office/drawing/2014/main" id="{72F84A38-A194-1F64-8F14-7773AD6A2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8279" y="9326880"/>
            <a:ext cx="4165956" cy="2435217"/>
          </a:xfrm>
          <a:prstGeom prst="rect">
            <a:avLst/>
          </a:prstGeom>
          <a:noFill/>
          <a:ln w="19050" cap="flat" cmpd="sng" algn="ctr">
            <a:noFill/>
            <a:prstDash val="solid"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lnSpc>
                <a:spcPct val="110000"/>
              </a:lnSpc>
            </a:pPr>
            <a:r>
              <a:rPr lang="en-US" sz="1900" b="1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  <a:t>Anomaly resilience.</a:t>
            </a:r>
            <a:br>
              <a:rPr lang="en-US" sz="1900" b="1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</a:br>
            <a:r>
              <a:rPr lang="en-US" sz="1900" b="0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  <a:t>Progress-aware load balancing keeps the workflow </a:t>
            </a:r>
            <a:r>
              <a:rPr lang="en-US" sz="1900" b="1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  <a:t>on time despite per-worker slowdowns</a:t>
            </a:r>
            <a:r>
              <a:rPr lang="en-US" sz="1900" b="0" dirty="0">
                <a:solidFill>
                  <a:srgbClr val="7030A0"/>
                </a:solidFill>
                <a:latin typeface="Quattrocento Sans" panose="020B0502050000020003" pitchFamily="34" charset="0"/>
                <a:cs typeface="Arial" pitchFamily="34" charset="0"/>
              </a:rPr>
              <a:t>, across scales and heterogeneous execution conditions.</a:t>
            </a:r>
          </a:p>
        </p:txBody>
      </p:sp>
      <p:sp>
        <p:nvSpPr>
          <p:cNvPr id="1122" name="Takeaway banner">
            <a:extLst>
              <a:ext uri="{FF2B5EF4-FFF2-40B4-BE49-F238E27FC236}">
                <a16:creationId xmlns:a16="http://schemas.microsoft.com/office/drawing/2014/main" id="{CFB8A7D3-5E0F-D304-2932-36ED61257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9701" y="12573000"/>
            <a:ext cx="4165956" cy="3338582"/>
          </a:xfrm>
          <a:prstGeom prst="rect">
            <a:avLst/>
          </a:prstGeom>
          <a:noFill/>
          <a:ln w="19050" cap="flat" cmpd="sng" algn="ctr">
            <a:noFill/>
            <a:prstDash val="solid"/>
          </a:ln>
        </p:spPr>
        <p:txBody>
          <a:bodyPr wrap="square" lIns="91440" tIns="60960" rIns="91440" bIns="60960" anchor="t"/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</a:defRPr>
            </a:lvl2pPr>
          </a:lstStyle>
          <a:p>
            <a:pPr>
              <a:lnSpc>
                <a:spcPct val="110000"/>
              </a:lnSpc>
            </a:pPr>
            <a:r>
              <a:rPr lang="en-US" sz="1900" b="1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  <a:t>End-to-end robustness.</a:t>
            </a:r>
            <a:br>
              <a:rPr lang="en-US" sz="1900" b="1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</a:br>
            <a:r>
              <a:rPr lang="en-US" sz="1900" b="0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  <a:t>Failure and anomaly resilience operate </a:t>
            </a:r>
            <a:r>
              <a:rPr lang="en-US" sz="1900" b="1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  <a:t>independently</a:t>
            </a:r>
            <a:r>
              <a:rPr lang="en-US" sz="1900" b="0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  <a:t> — combining them avoids compounding overhead, holding deadlines across </a:t>
            </a:r>
            <a:r>
              <a:rPr lang="en-US" sz="1900" b="1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  <a:t>all tested failure rates, slowdown intensities, and scales</a:t>
            </a:r>
            <a:r>
              <a:rPr lang="en-US" sz="1900" b="0" dirty="0">
                <a:solidFill>
                  <a:srgbClr val="00B050"/>
                </a:solidFill>
                <a:latin typeface="Quattrocento Sans" panose="020B0502050000020003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1123" name="Fig 1 Streaming workflow" descr="fig1_hire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7508488"/>
            <a:ext cx="7573280" cy="2321312"/>
          </a:xfrm>
          <a:prstGeom prst="rect">
            <a:avLst/>
          </a:prstGeom>
        </p:spPr>
      </p:pic>
      <p:pic>
        <p:nvPicPr>
          <p:cNvPr id="1124" name="Fig 2 Architecture" descr="fig2_hire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39200" y="7056120"/>
            <a:ext cx="7680960" cy="2926080"/>
          </a:xfrm>
          <a:prstGeom prst="rect">
            <a:avLst/>
          </a:prstGeom>
        </p:spPr>
      </p:pic>
      <p:pic>
        <p:nvPicPr>
          <p:cNvPr id="1125" name="Fig 3 Checkpoint+retry" descr="fig3_hire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46553" y="10591800"/>
            <a:ext cx="4746047" cy="2734627"/>
          </a:xfrm>
          <a:prstGeom prst="rect">
            <a:avLst/>
          </a:prstGeom>
        </p:spPr>
      </p:pic>
      <p:pic>
        <p:nvPicPr>
          <p:cNvPr id="1126" name="Fig 4 Implementation" descr="fig4_hire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66960" y="16764000"/>
            <a:ext cx="6035040" cy="1828800"/>
          </a:xfrm>
          <a:prstGeom prst="rect">
            <a:avLst/>
          </a:prstGeom>
        </p:spPr>
      </p:pic>
      <p:pic>
        <p:nvPicPr>
          <p:cNvPr id="1127" name="Fig 6 Checkpoint efficiency" descr="fig6_hire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960322" y="5760444"/>
            <a:ext cx="10381184" cy="2833360"/>
          </a:xfrm>
          <a:prstGeom prst="rect">
            <a:avLst/>
          </a:prstGeom>
        </p:spPr>
      </p:pic>
      <p:pic>
        <p:nvPicPr>
          <p:cNvPr id="1128" name="Fig 8 Load balancing" descr="fig8_hires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60321" y="9296400"/>
            <a:ext cx="10381183" cy="2887997"/>
          </a:xfrm>
          <a:prstGeom prst="rect">
            <a:avLst/>
          </a:prstGeom>
        </p:spPr>
      </p:pic>
      <p:pic>
        <p:nvPicPr>
          <p:cNvPr id="1129" name="Fig 9 Robustness" descr="fig9_hire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983237" y="12725400"/>
            <a:ext cx="10401763" cy="3065216"/>
          </a:xfrm>
          <a:prstGeom prst="rect">
            <a:avLst/>
          </a:prstGeom>
        </p:spPr>
      </p:pic>
      <p:pic>
        <p:nvPicPr>
          <p:cNvPr id="1130" name="Anomaly resilience figure" descr="anomaly_resilience_hire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180815" y="14020800"/>
            <a:ext cx="4811785" cy="238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710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A4A0CA4-F8E5-0275-1CAB-3D2A4DEB1D37}"/>
              </a:ext>
            </a:extLst>
          </p:cNvPr>
          <p:cNvGrpSpPr/>
          <p:nvPr/>
        </p:nvGrpSpPr>
        <p:grpSpPr>
          <a:xfrm>
            <a:off x="12433664" y="10354506"/>
            <a:ext cx="7225937" cy="3490905"/>
            <a:chOff x="12433664" y="10354506"/>
            <a:chExt cx="7225937" cy="3490905"/>
          </a:xfrm>
        </p:grpSpPr>
        <p:sp>
          <p:nvSpPr>
            <p:cNvPr id="4" name="Rounded Rectangle 3"/>
            <p:cNvSpPr/>
            <p:nvPr/>
          </p:nvSpPr>
          <p:spPr>
            <a:xfrm>
              <a:off x="12433664" y="10354506"/>
              <a:ext cx="3034936" cy="3490905"/>
            </a:xfrm>
            <a:prstGeom prst="roundRect">
              <a:avLst>
                <a:gd name="adj" fmla="val 2500"/>
              </a:avLst>
            </a:prstGeom>
            <a:solidFill>
              <a:srgbClr val="FAFAFC"/>
            </a:solidFill>
            <a:ln w="25400">
              <a:solidFill>
                <a:srgbClr val="D2D2D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2433664" y="10467696"/>
              <a:ext cx="2816842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1" i="0" dirty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Imbalance detected</a:t>
              </a:r>
            </a:p>
          </p:txBody>
        </p:sp>
        <p:cxnSp>
          <p:nvCxnSpPr>
            <p:cNvPr id="8" name="Connector 7"/>
            <p:cNvCxnSpPr>
              <a:cxnSpLocks/>
            </p:cNvCxnSpPr>
            <p:nvPr/>
          </p:nvCxnSpPr>
          <p:spPr>
            <a:xfrm>
              <a:off x="12958204" y="13445786"/>
              <a:ext cx="2357996" cy="0"/>
            </a:xfrm>
            <a:prstGeom prst="line">
              <a:avLst/>
            </a:prstGeom>
            <a:ln w="12700">
              <a:solidFill>
                <a:srgbClr val="505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4796813" y="13515562"/>
              <a:ext cx="767714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dirty="0">
                  <a:solidFill>
                    <a:srgbClr val="5A5A5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→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537352" y="10933424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1200" b="1" dirty="0">
                  <a:solidFill>
                    <a:srgbClr val="C83C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w1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215850" y="10819438"/>
              <a:ext cx="652550" cy="124883"/>
            </a:xfrm>
            <a:prstGeom prst="roundRect">
              <a:avLst>
                <a:gd name="adj" fmla="val 18000"/>
              </a:avLst>
            </a:prstGeom>
            <a:solidFill>
              <a:srgbClr val="C83C3C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3211191" y="10981786"/>
              <a:ext cx="609046" cy="124883"/>
            </a:xfrm>
            <a:prstGeom prst="roundRect">
              <a:avLst>
                <a:gd name="adj" fmla="val 18000"/>
              </a:avLst>
            </a:prstGeom>
            <a:pattFill prst="ltDnDiag">
              <a:fgClr>
                <a:srgbClr val="FFFFFF"/>
              </a:fgClr>
              <a:bgClr>
                <a:srgbClr val="C83C3C"/>
              </a:bgClr>
            </a:patt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543451" y="11446070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w2</a:t>
              </a:r>
            </a:p>
          </p:txBody>
        </p:sp>
        <p:cxnSp>
          <p:nvCxnSpPr>
            <p:cNvPr id="14" name="Connector 13"/>
            <p:cNvCxnSpPr>
              <a:cxnSpLocks/>
            </p:cNvCxnSpPr>
            <p:nvPr/>
          </p:nvCxnSpPr>
          <p:spPr>
            <a:xfrm>
              <a:off x="12506856" y="11131053"/>
              <a:ext cx="2743650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13211191" y="11181137"/>
              <a:ext cx="1413857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3211191" y="11488939"/>
              <a:ext cx="1435609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543451" y="12215714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 dirty="0">
                  <a:solidFill>
                    <a:srgbClr val="54A85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w3</a:t>
              </a:r>
            </a:p>
          </p:txBody>
        </p:sp>
        <p:cxnSp>
          <p:nvCxnSpPr>
            <p:cNvPr id="18" name="Connector 17"/>
            <p:cNvCxnSpPr>
              <a:cxnSpLocks/>
            </p:cNvCxnSpPr>
            <p:nvPr/>
          </p:nvCxnSpPr>
          <p:spPr>
            <a:xfrm>
              <a:off x="12506856" y="11808990"/>
              <a:ext cx="2809344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13210118" y="11900821"/>
              <a:ext cx="2001151" cy="377261"/>
            </a:xfrm>
            <a:prstGeom prst="roundRect">
              <a:avLst>
                <a:gd name="adj" fmla="val 18000"/>
              </a:avLst>
            </a:prstGeom>
            <a:solidFill>
              <a:srgbClr val="54A85A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3205851" y="12322795"/>
              <a:ext cx="2044655" cy="377261"/>
            </a:xfrm>
            <a:prstGeom prst="roundRect">
              <a:avLst>
                <a:gd name="adj" fmla="val 18000"/>
              </a:avLst>
            </a:prstGeom>
            <a:solidFill>
              <a:srgbClr val="54A85A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543451" y="13054322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w4</a:t>
              </a:r>
            </a:p>
          </p:txBody>
        </p:sp>
        <p:cxnSp>
          <p:nvCxnSpPr>
            <p:cNvPr id="22" name="Connector 21"/>
            <p:cNvCxnSpPr>
              <a:cxnSpLocks/>
            </p:cNvCxnSpPr>
            <p:nvPr/>
          </p:nvCxnSpPr>
          <p:spPr>
            <a:xfrm>
              <a:off x="12506856" y="12739305"/>
              <a:ext cx="2809344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/>
            <p:cNvSpPr/>
            <p:nvPr/>
          </p:nvSpPr>
          <p:spPr>
            <a:xfrm>
              <a:off x="13210118" y="12795827"/>
              <a:ext cx="1435609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3206567" y="13120806"/>
              <a:ext cx="1392105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6535401" y="10354506"/>
              <a:ext cx="3124200" cy="3490905"/>
            </a:xfrm>
            <a:prstGeom prst="roundRect">
              <a:avLst>
                <a:gd name="adj" fmla="val 2500"/>
              </a:avLst>
            </a:prstGeom>
            <a:solidFill>
              <a:srgbClr val="FAFAFC"/>
            </a:solidFill>
            <a:ln w="25400">
              <a:solidFill>
                <a:srgbClr val="D2D2D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6739101" y="10467697"/>
              <a:ext cx="261570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200" b="1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Partition</a:t>
              </a:r>
              <a:r>
                <a:rPr sz="1200" b="1" i="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reassigned</a:t>
              </a:r>
            </a:p>
          </p:txBody>
        </p:sp>
        <p:cxnSp>
          <p:nvCxnSpPr>
            <p:cNvPr id="29" name="Connector 28"/>
            <p:cNvCxnSpPr>
              <a:cxnSpLocks/>
            </p:cNvCxnSpPr>
            <p:nvPr/>
          </p:nvCxnSpPr>
          <p:spPr>
            <a:xfrm>
              <a:off x="17263640" y="13445786"/>
              <a:ext cx="2216972" cy="0"/>
            </a:xfrm>
            <a:prstGeom prst="line">
              <a:avLst/>
            </a:prstGeom>
            <a:ln w="12700">
              <a:solidFill>
                <a:srgbClr val="505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8870441" y="13496816"/>
              <a:ext cx="663918" cy="1846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dirty="0">
                  <a:solidFill>
                    <a:srgbClr val="5A5A5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→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7263640" y="10809487"/>
              <a:ext cx="1710160" cy="290530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Connector 33"/>
            <p:cNvCxnSpPr>
              <a:cxnSpLocks/>
            </p:cNvCxnSpPr>
            <p:nvPr/>
          </p:nvCxnSpPr>
          <p:spPr>
            <a:xfrm>
              <a:off x="16632157" y="11135698"/>
              <a:ext cx="2848455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17263640" y="11185651"/>
              <a:ext cx="1862560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7263640" y="11488939"/>
              <a:ext cx="1938760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7263641" y="11867049"/>
              <a:ext cx="2091160" cy="254524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7263641" y="12165980"/>
              <a:ext cx="2167360" cy="254524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7263640" y="12449100"/>
              <a:ext cx="1762209" cy="254524"/>
            </a:xfrm>
            <a:prstGeom prst="roundRect">
              <a:avLst>
                <a:gd name="adj" fmla="val 18000"/>
              </a:avLst>
            </a:prstGeom>
            <a:pattFill prst="ltDnDiag">
              <a:fgClr>
                <a:srgbClr val="FFFFFF"/>
              </a:fgClr>
              <a:bgClr>
                <a:srgbClr val="F58220"/>
              </a:bgClr>
            </a:patt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Connector 42"/>
            <p:cNvCxnSpPr>
              <a:cxnSpLocks/>
            </p:cNvCxnSpPr>
            <p:nvPr/>
          </p:nvCxnSpPr>
          <p:spPr>
            <a:xfrm>
              <a:off x="16632157" y="12739305"/>
              <a:ext cx="2848455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ounded Rectangle 43"/>
            <p:cNvSpPr/>
            <p:nvPr/>
          </p:nvSpPr>
          <p:spPr>
            <a:xfrm>
              <a:off x="17263640" y="12789258"/>
              <a:ext cx="1938760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7263640" y="13092545"/>
              <a:ext cx="1862560" cy="274743"/>
            </a:xfrm>
            <a:prstGeom prst="roundRect">
              <a:avLst>
                <a:gd name="adj" fmla="val 18000"/>
              </a:avLst>
            </a:prstGeom>
            <a:solidFill>
              <a:srgbClr val="2E75B6"/>
            </a:solidFill>
            <a:ln w="9525">
              <a:solidFill>
                <a:srgbClr val="1F1F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bIns="0" rtlCol="0" anchor="ctr"/>
            <a:lstStyle/>
            <a:p>
              <a:pPr algn="r"/>
              <a:endPara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5654611" y="12693021"/>
              <a:ext cx="904729" cy="923330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r>
                <a:rPr lang="en-US" sz="1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Migrate the slowest partition s2 to the fastest worker w3</a:t>
              </a:r>
            </a:p>
          </p:txBody>
        </p:sp>
        <p:cxnSp>
          <p:nvCxnSpPr>
            <p:cNvPr id="59" name="Connector 13">
              <a:extLst>
                <a:ext uri="{FF2B5EF4-FFF2-40B4-BE49-F238E27FC236}">
                  <a16:creationId xmlns:a16="http://schemas.microsoft.com/office/drawing/2014/main" id="{F3123A16-9460-D9D3-8D44-BB4A8D24F56B}"/>
                </a:ext>
              </a:extLst>
            </p:cNvPr>
            <p:cNvCxnSpPr>
              <a:cxnSpLocks/>
            </p:cNvCxnSpPr>
            <p:nvPr/>
          </p:nvCxnSpPr>
          <p:spPr>
            <a:xfrm>
              <a:off x="12506856" y="10769720"/>
              <a:ext cx="2809344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13">
              <a:extLst>
                <a:ext uri="{FF2B5EF4-FFF2-40B4-BE49-F238E27FC236}">
                  <a16:creationId xmlns:a16="http://schemas.microsoft.com/office/drawing/2014/main" id="{9F0C042D-55C3-2C97-1241-DDC684992EEC}"/>
                </a:ext>
              </a:extLst>
            </p:cNvPr>
            <p:cNvCxnSpPr>
              <a:cxnSpLocks/>
            </p:cNvCxnSpPr>
            <p:nvPr/>
          </p:nvCxnSpPr>
          <p:spPr>
            <a:xfrm>
              <a:off x="16632157" y="10759534"/>
              <a:ext cx="2848455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FE9C189-788B-4553-1B45-1D5B88A9E8F8}"/>
                </a:ext>
              </a:extLst>
            </p:cNvPr>
            <p:cNvCxnSpPr>
              <a:cxnSpLocks/>
              <a:stCxn id="12" idx="3"/>
              <a:endCxn id="105" idx="1"/>
            </p:cNvCxnSpPr>
            <p:nvPr/>
          </p:nvCxnSpPr>
          <p:spPr>
            <a:xfrm>
              <a:off x="13820237" y="11044228"/>
              <a:ext cx="3147374" cy="1544352"/>
            </a:xfrm>
            <a:prstGeom prst="bentConnector3">
              <a:avLst>
                <a:gd name="adj1" fmla="val 71192"/>
              </a:avLst>
            </a:prstGeom>
            <a:ln w="19050">
              <a:solidFill>
                <a:srgbClr val="7030A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9468950-9B09-B304-3637-C57E1C100A48}"/>
                </a:ext>
              </a:extLst>
            </p:cNvPr>
            <p:cNvSpPr txBox="1"/>
            <p:nvPr/>
          </p:nvSpPr>
          <p:spPr>
            <a:xfrm>
              <a:off x="12880463" y="10751361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F02B211-A40A-3BDE-9F00-9B30F3ADF2BD}"/>
                </a:ext>
              </a:extLst>
            </p:cNvPr>
            <p:cNvSpPr txBox="1"/>
            <p:nvPr/>
          </p:nvSpPr>
          <p:spPr>
            <a:xfrm>
              <a:off x="12880463" y="1090429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2FB01E1-9C64-3680-63A4-725BE40D5A12}"/>
                </a:ext>
              </a:extLst>
            </p:cNvPr>
            <p:cNvSpPr txBox="1"/>
            <p:nvPr/>
          </p:nvSpPr>
          <p:spPr>
            <a:xfrm>
              <a:off x="12881679" y="11173474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A0391F1-C44C-BF44-2DA2-ACD98AAACEE0}"/>
                </a:ext>
              </a:extLst>
            </p:cNvPr>
            <p:cNvSpPr txBox="1"/>
            <p:nvPr/>
          </p:nvSpPr>
          <p:spPr>
            <a:xfrm>
              <a:off x="12880463" y="1147110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D3B5B3F-D424-C5B6-D708-21DA51633133}"/>
                </a:ext>
              </a:extLst>
            </p:cNvPr>
            <p:cNvSpPr txBox="1"/>
            <p:nvPr/>
          </p:nvSpPr>
          <p:spPr>
            <a:xfrm>
              <a:off x="12880463" y="1192616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s5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8FB6269-1FFB-E4C0-C721-61F00C4F7612}"/>
                </a:ext>
              </a:extLst>
            </p:cNvPr>
            <p:cNvSpPr txBox="1"/>
            <p:nvPr/>
          </p:nvSpPr>
          <p:spPr>
            <a:xfrm>
              <a:off x="12880463" y="12317945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s6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E878F56-D5FC-4881-4E2F-2A2228DF7FAB}"/>
                </a:ext>
              </a:extLst>
            </p:cNvPr>
            <p:cNvSpPr txBox="1"/>
            <p:nvPr/>
          </p:nvSpPr>
          <p:spPr>
            <a:xfrm>
              <a:off x="12881679" y="12798464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s7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70013EA-48C6-D5CF-2BA2-DBDC1B5D30BD}"/>
                </a:ext>
              </a:extLst>
            </p:cNvPr>
            <p:cNvSpPr txBox="1"/>
            <p:nvPr/>
          </p:nvSpPr>
          <p:spPr>
            <a:xfrm>
              <a:off x="12880463" y="13113946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s8</a:t>
              </a:r>
            </a:p>
          </p:txBody>
        </p:sp>
        <p:cxnSp>
          <p:nvCxnSpPr>
            <p:cNvPr id="99" name="Connector 17">
              <a:extLst>
                <a:ext uri="{FF2B5EF4-FFF2-40B4-BE49-F238E27FC236}">
                  <a16:creationId xmlns:a16="http://schemas.microsoft.com/office/drawing/2014/main" id="{F167C6E5-B635-E06B-728B-B3AE7D26B836}"/>
                </a:ext>
              </a:extLst>
            </p:cNvPr>
            <p:cNvCxnSpPr>
              <a:cxnSpLocks/>
            </p:cNvCxnSpPr>
            <p:nvPr/>
          </p:nvCxnSpPr>
          <p:spPr>
            <a:xfrm>
              <a:off x="16632157" y="11808990"/>
              <a:ext cx="2809344" cy="0"/>
            </a:xfrm>
            <a:prstGeom prst="line">
              <a:avLst/>
            </a:prstGeom>
            <a:ln w="19050">
              <a:solidFill>
                <a:srgbClr val="E6E6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4268216-69F7-843A-4684-A4CF8DC163B6}"/>
                </a:ext>
              </a:extLst>
            </p:cNvPr>
            <p:cNvSpPr txBox="1"/>
            <p:nvPr/>
          </p:nvSpPr>
          <p:spPr>
            <a:xfrm>
              <a:off x="16624500" y="10940284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1200" b="1" dirty="0">
                  <a:solidFill>
                    <a:srgbClr val="C83C3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w1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3AFC3F3-98A8-DCCF-A348-FE4079DB7816}"/>
                </a:ext>
              </a:extLst>
            </p:cNvPr>
            <p:cNvSpPr txBox="1"/>
            <p:nvPr/>
          </p:nvSpPr>
          <p:spPr>
            <a:xfrm>
              <a:off x="16630599" y="11452930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w2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7A706F4-D3C0-AFA1-EE2D-825DAF74CE17}"/>
                </a:ext>
              </a:extLst>
            </p:cNvPr>
            <p:cNvSpPr txBox="1"/>
            <p:nvPr/>
          </p:nvSpPr>
          <p:spPr>
            <a:xfrm>
              <a:off x="16630599" y="12222574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 dirty="0">
                  <a:solidFill>
                    <a:srgbClr val="54A85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w3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9183E45-8009-93D5-E373-DAF74D4EBF4B}"/>
                </a:ext>
              </a:extLst>
            </p:cNvPr>
            <p:cNvSpPr txBox="1"/>
            <p:nvPr/>
          </p:nvSpPr>
          <p:spPr>
            <a:xfrm>
              <a:off x="16630599" y="13061182"/>
              <a:ext cx="317163" cy="479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200" b="1" i="0">
                  <a:solidFill>
                    <a:srgbClr val="1F1F1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w4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C2B82A-F144-6348-2A7C-94823C1BBE69}"/>
                </a:ext>
              </a:extLst>
            </p:cNvPr>
            <p:cNvSpPr txBox="1"/>
            <p:nvPr/>
          </p:nvSpPr>
          <p:spPr>
            <a:xfrm>
              <a:off x="16992221" y="10812964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2DC961B-77C9-4265-1B4A-1770AD415079}"/>
                </a:ext>
              </a:extLst>
            </p:cNvPr>
            <p:cNvSpPr txBox="1"/>
            <p:nvPr/>
          </p:nvSpPr>
          <p:spPr>
            <a:xfrm>
              <a:off x="16967611" y="12450080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84B88D5-DD6C-FAE5-9B64-2DDAAB489D6F}"/>
                </a:ext>
              </a:extLst>
            </p:cNvPr>
            <p:cNvSpPr txBox="1"/>
            <p:nvPr/>
          </p:nvSpPr>
          <p:spPr>
            <a:xfrm>
              <a:off x="16968827" y="11180334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s3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D06F87E-C259-66E5-15CA-34C033D31020}"/>
                </a:ext>
              </a:extLst>
            </p:cNvPr>
            <p:cNvSpPr txBox="1"/>
            <p:nvPr/>
          </p:nvSpPr>
          <p:spPr>
            <a:xfrm>
              <a:off x="16967611" y="1147796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s4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6AC630B-E5D8-B1B6-68D7-76D2C5A435B1}"/>
                </a:ext>
              </a:extLst>
            </p:cNvPr>
            <p:cNvSpPr txBox="1"/>
            <p:nvPr/>
          </p:nvSpPr>
          <p:spPr>
            <a:xfrm>
              <a:off x="16967611" y="11933022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s5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143798A-184F-7CBC-F0F5-7DD9A6928B6B}"/>
                </a:ext>
              </a:extLst>
            </p:cNvPr>
            <p:cNvSpPr txBox="1"/>
            <p:nvPr/>
          </p:nvSpPr>
          <p:spPr>
            <a:xfrm>
              <a:off x="16967611" y="12143601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s6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75FB7B-DEEE-4ADE-89FD-BF32ABB743CA}"/>
                </a:ext>
              </a:extLst>
            </p:cNvPr>
            <p:cNvSpPr txBox="1"/>
            <p:nvPr/>
          </p:nvSpPr>
          <p:spPr>
            <a:xfrm>
              <a:off x="16968827" y="12805324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s7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BC680B7-1C9E-C329-C6D7-78E7790AA44E}"/>
                </a:ext>
              </a:extLst>
            </p:cNvPr>
            <p:cNvSpPr txBox="1"/>
            <p:nvPr/>
          </p:nvSpPr>
          <p:spPr>
            <a:xfrm>
              <a:off x="16967611" y="13120806"/>
              <a:ext cx="3209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s8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ludingcider|08-2022"/>
</p:tagLst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5308</TotalTime>
  <Words>640</Words>
  <Application>Microsoft Macintosh PowerPoint</Application>
  <PresentationFormat>Custom</PresentationFormat>
  <Paragraphs>77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Quattrocento</vt:lpstr>
      <vt:lpstr>Arial</vt:lpstr>
      <vt:lpstr>Quattrocento Sans</vt:lpstr>
      <vt:lpstr>Calibri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Nguyen, Hai Duc</cp:lastModifiedBy>
  <cp:revision>18</cp:revision>
  <cp:lastPrinted>2011-01-21T18:13:44Z</cp:lastPrinted>
  <dcterms:modified xsi:type="dcterms:W3CDTF">2026-05-07T23:55:03Z</dcterms:modified>
  <cp:category>science research poster</cp:category>
</cp:coreProperties>
</file>